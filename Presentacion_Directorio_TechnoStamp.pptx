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27998438fc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27998438fc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7998438fc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7998438fc_0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573b2f1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573b2f1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573b2f10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573b2f10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7998438fc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7998438fc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573b2f10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573b2f10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1573b2f10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1573b2f10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 1" showMasterSp="0">
  <p:cSld name="14_Title Slide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845" y="2408926"/>
            <a:ext cx="3664083" cy="2748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3783676" y="2296178"/>
            <a:ext cx="0" cy="1898100"/>
          </a:xfrm>
          <a:prstGeom prst="straightConnector1">
            <a:avLst/>
          </a:prstGeom>
          <a:noFill/>
          <a:ln cap="flat" cmpd="sng" w="25400">
            <a:solidFill>
              <a:srgbClr val="3B967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" name="Google Shape;14;p2"/>
          <p:cNvSpPr txBox="1"/>
          <p:nvPr>
            <p:ph type="title"/>
          </p:nvPr>
        </p:nvSpPr>
        <p:spPr>
          <a:xfrm>
            <a:off x="4118575" y="2299500"/>
            <a:ext cx="7698600" cy="9918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37475" y="3291300"/>
            <a:ext cx="7679700" cy="111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409045" y="6333134"/>
            <a:ext cx="731700" cy="323100"/>
          </a:xfrm>
          <a:prstGeom prst="rect">
            <a:avLst/>
          </a:prstGeom>
        </p:spPr>
        <p:txBody>
          <a:bodyPr anchorCtr="0" anchor="t" bIns="60950" lIns="60950" spcFirstLastPara="1" rIns="60950" wrap="square" tIns="60950">
            <a:sp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 showMasterSp="0" type="tx">
  <p:cSld name="TITLE_AND_BODY">
    <p:bg>
      <p:bgPr>
        <a:solidFill>
          <a:srgbClr val="F6F8F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 1" showMasterSp="0">
  <p:cSld name="TITLE_AND_BODY_1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62527" y="6217852"/>
            <a:ext cx="27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2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0" y="0"/>
            <a:ext cx="12192000" cy="102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0"/>
            <a:ext cx="12192000" cy="102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1400" y="288674"/>
            <a:ext cx="104481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cxnSp>
        <p:nvCxnSpPr>
          <p:cNvPr id="8" name="Google Shape;8;p1"/>
          <p:cNvCxnSpPr/>
          <p:nvPr/>
        </p:nvCxnSpPr>
        <p:spPr>
          <a:xfrm>
            <a:off x="11642976" y="6735928"/>
            <a:ext cx="549600" cy="0"/>
          </a:xfrm>
          <a:prstGeom prst="straightConnector1">
            <a:avLst/>
          </a:prstGeom>
          <a:noFill/>
          <a:ln cap="flat" cmpd="sng" w="25400">
            <a:solidFill>
              <a:srgbClr val="3B967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09600" y="10865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88299" y="72424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118575" y="2299500"/>
            <a:ext cx="7698600" cy="9918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4137475" y="3291300"/>
            <a:ext cx="7679700" cy="111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409045" y="6333134"/>
            <a:ext cx="731700" cy="323100"/>
          </a:xfrm>
          <a:prstGeom prst="rect">
            <a:avLst/>
          </a:prstGeom>
        </p:spPr>
        <p:txBody>
          <a:bodyPr anchorCtr="0" anchor="t" bIns="60950" lIns="60950" spcFirstLastPara="1" rIns="60950" wrap="square" tIns="609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0" y="192024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0A86B"/>
                </a:solidFill>
              </a:defRPr>
            </a:pPr>
            <a:r>
              <a:t>DECISION SCIENCE &amp; ADVANCED ANALYTICS | C-LEVEL</a:t>
            </a:r>
          </a:p>
          <a:p>
            <a:pPr>
              <a:spcAft>
                <a:spcPts val="1000"/>
              </a:spcAft>
              <a:defRPr b="1" sz="2700">
                <a:solidFill>
                  <a:srgbClr val="0F172A"/>
                </a:solidFill>
              </a:defRPr>
            </a:pPr>
            <a:r>
              <a:t>TechnoStamp Industries: Del Dato a la Estrategia</a:t>
            </a:r>
          </a:p>
          <a:p>
            <a:pPr>
              <a:spcAft>
                <a:spcPts val="1400"/>
              </a:spcAft>
              <a:defRPr sz="1350">
                <a:solidFill>
                  <a:srgbClr val="475569"/>
                </a:solidFill>
              </a:defRPr>
            </a:pPr>
            <a:r>
              <a:t>Diagnóstico integral, auditoría forense de datos, econometría y modelos predictivos para el Directorio y CEO.</a:t>
            </a:r>
          </a:p>
          <a:p>
            <a:pPr>
              <a:defRPr sz="1100" i="1">
                <a:solidFill>
                  <a:srgbClr val="00A86B"/>
                </a:solidFill>
              </a:defRPr>
            </a:pPr>
            <a:r>
              <a:t>People Analytics &amp; Decision Science | Strategic Workforce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62527" y="6217852"/>
            <a:ext cx="275100" cy="2769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RESUMEN EJECUTIVO: 5 INSIGHTS CLAVE PARA EL DIRECTORIO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1600200"/>
            <a:ext cx="2514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1. Crisis Turno Noche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MÉTRICA CLAVE: 5.3x Riesgo / +101% Scrap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Concentra el 56% de accidentes y doble de scrap. 0 supervisores en planta. Pico de scrap de invierno 2024 derivó en despido del Plant Manager.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Impacto Directo: &gt;$360M ARS anuales de ahorro potencial en EBITDA.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29000" y="1600200"/>
            <a:ext cx="2514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2. Abismo de Sucesión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MÉTRICA CLAVE: 80% en &lt;= 12 Meses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Logística pierde el 100% de jefaturas. Error legal en ERP (fórmula 65 años) ocultó que Teresa Rodríguez (64a) ya puede jubilarse de inmediato.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Impacto Directo: &gt;$360M ARS anuales de ahorro potencial en EBITDA.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1600200"/>
            <a:ext cx="2514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3. Sobrecarga y Fuga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MÉTRICA CLAVE: $1.422M en HE / 35% Rotación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Mantenimiento Eléctrico sufre Time-to-Fill de 67 días. 4 supervisores concentran el 60-80% de las renuncias voluntarias por exceso de horas extra.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Impacto Directo: &gt;$360M ARS anuales de ahorro potencial en EBITDA.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3960" y="1600200"/>
            <a:ext cx="2514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4. Seguridad y Modelo ML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MÉTRICA CLAVE: Umbral &gt;20h = 5.4x Riesgo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78% de accidentados no fue capacitado. Desarrollamos un Modelo Predictivo (ROC-AUC 0.88) que captura el 83.3% de accidentes en el top 20% de riesgo.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Impacto Directo: &gt;$360M ARS anuales de ahorro potencial en EBITDA.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6B"/>
                </a:solidFill>
              </a:defRPr>
            </a:pPr>
            <a:r>
              <a:t>TECHNOSTAMP INDUSTRIES | DECISION SCIENCE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1. La Triple Crisis del Turno Noche y el Veredicto del Scrap</a:t>
            </a:r>
          </a:p>
        </p:txBody>
      </p:sp>
      <p:pic>
        <p:nvPicPr>
          <p:cNvPr id="64" name="Picture 63" descr="fig1_turno_noche_cri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492240" cy="376549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7406640" y="1371600"/>
            <a:ext cx="40233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Diagnóstico e Impacto Operativo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Doble de Scrap: Turno Noche promedia 3.60% vs 1.79% diurno (t=42.17, p&lt;0.0001). Aporta 1.757 días perdidos (71.4% de la planta) y &gt;18.600 piezas de scrap excedente.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5.3x Mayor Tasa de Accidentes: 11.77 por mil emp-mes vs 2.22 diurno. Concentra 25 de 45 accidentes y 5 de 6 casos graves.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Causa Raíz Organizacional: Planta acéfala. Cero Supervisores (Nivel 3) ni Gerentes (Nivel 4/5) presentes de noche.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Crisis Oculta de Invierno 2024: En Jun-Ago 2024 el scrap en Estampado saltó a 4.78% (Setup 5.45%), provocando el despido del Plant Manager (Damián Barbieri, ID 1001) en Dic 2024. Puesto sigue VACANTE en 2025.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Acción: Asignar 2 Supervisores rotativos al Turno Noche y cubrir de inmediato la Gerencia de Planta.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6B"/>
                </a:solidFill>
              </a:defRPr>
            </a:pPr>
            <a:r>
              <a:t>TECHNOSTAMP INDUSTRIES | DECISION SCIENCE REPORT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2. Abismo de Sucesión y el 'Punto Ciego Legal' de RRHH</a:t>
            </a:r>
          </a:p>
        </p:txBody>
      </p:sp>
      <p:pic>
        <p:nvPicPr>
          <p:cNvPr id="70" name="Picture 69" descr="fig3_retirement_cliff_logis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583680" cy="2785403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7498079" y="1371600"/>
            <a:ext cx="3931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Vulnerabilidad en Continuidad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Pérdida del 80% en 12 Meses: De 5 posiciones críticas activas, 4 se jubilan en &lt;=12 meses.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Decapitación Total en Logística: En 12 meses se van la Supervisora (Ana Ortiz, 6m) y ambos Team Leaders (Sergio Reyes, 9m; Miguel De Luca, 12m).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El Error Legal de RRHH: El ERP calculó jubilación a los 65 años para ambos géneros. En Argentina, las mujeres se jubilan a los 60 años.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Riesgo Omitido: Teresa Rodríguez (Técnico Setup Estampado, 64 años, 11.3 años de experiencia) ya tiene edad vencida y puede jubilarse de inmediato sin sucesor.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Falsas Jubilaciones en ERP: 6 empleados de 26 a 45 años fueron rotulados erróneamente como 'Jubilación' por falta de validación en el sistema.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Acción: Activar programa de Shadowing de 90 días en Logística y Estampado con incentivo por transferencia de know-how.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6B"/>
                </a:solidFill>
              </a:defRPr>
            </a:pPr>
            <a:r>
              <a:t>TECHNOSTAMP INDUSTRIES | DECISION SCIENCE REPORT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3. Horas Extra ($1.422M), Time to Fill (67d) y Efecto Manager</a:t>
            </a:r>
          </a:p>
        </p:txBody>
      </p:sp>
      <p:pic>
        <p:nvPicPr>
          <p:cNvPr id="77" name="Picture 76" descr="fig6_recruitment_bottlen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583680" cy="263347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7498079" y="1371600"/>
            <a:ext cx="3931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Círculo Vicioso de Dotación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Gasto Crónico: $1.422M en 98.260 hs extra. El 99.8% de operarios hace horas extra mensuales. No son picos: es falta de personal.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El Cuello de Botella: Time to Fill promedia 66.6 días en Mantenimiento Eléctrico y 70.9 días en Mecánico. Tardan 2 meses y medio en cubrir cada baja.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Efecto 'Manager Tóxico': La rotación se concentra en 4 supervisores puntuales: Alan Marino (80% bajas), Facundo Ricci (80%), Isaías Peña (71%) y Luciano Chávez (60%).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Evasión de Fuga en Mantenimiento: El área perdió el 34.8% de su dotación (23.9% por renuncia voluntaria) por jornadas de &gt;21 hs extra/mes.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Acción: Alianza con agencias técnicas para bajar Time-to-Fill a &lt;25 días y auditar el estilo de liderazgo de los 4 supervisores críticos.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6B"/>
                </a:solidFill>
              </a:defRPr>
            </a:pPr>
            <a:r>
              <a:t>TECHNOSTAMP INDUSTRIES | DECISION SCIENCE 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4. Seguridad, Umbral de Fatiga y Sistema Predictivo ML</a:t>
            </a:r>
          </a:p>
        </p:txBody>
      </p:sp>
      <p:pic>
        <p:nvPicPr>
          <p:cNvPr id="83" name="Picture 82" descr="fig2_overtime_cost_by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583680" cy="263347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7498079" y="1371600"/>
            <a:ext cx="3931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Prevención Científica y ROI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Umbral Crítico de Fatiga: Operarios con &gt;20 hs extra/mes quintuplican su probabilidad de accidente (de 0.63% a 3.40%).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Brecha en Capacitación: El 78% de los accidentados jamás tuvo entrenamiento en seguridad. Completar cursos de seguridad reduce la siniestralidad en 59.7% (de 13.3 a 5.4 por mil).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Discrepancia de Seguridad: Panel tiene 100 incidentes (enfermería/leves) vs 45 en eventos_rrhh (bajas formales a ART).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Modelo Predictivo en Producción: Entrenamos un algoritmo LightGBM (ROC-AUC 0.88) que predice siniestros y permite intervenir preventivamente sobre el top 20% de mayor score, capturando el 83.3% de los accidentes futuros.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Diversidad: 37% de mujeres. No hay brecha salarial en Niveles 1 a 3 (&lt;1%), pero sí un gap de 7% en Nivel 4 y baja presencia en Ensamble (26.8%) e Ingeniería (28.6%).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6B"/>
                </a:solidFill>
              </a:defRPr>
            </a:pPr>
            <a:r>
              <a:t>TECHNOSTAMP INDUSTRIES | DECISION SCIENCE REPORT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5. Hoja de Ruta 30-60-90 Días y Retorno en EBITDA (+$363M)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0 - 30 DÍAS: CONTENCIÓN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Supervisión Nocturna: Reasignar 2 Supervisores Nivel 3 al Turno Noche rotativos.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Sucesión de Emergencia: Nombrar aprendices para Ana Ortiz y Teresa Rodríguez.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Cubrir Plant Manager: Designar de inmediato al Director de Planta vacante desde Dic 2024.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Auditoría a 4 Supervisores: Intervención de RRHH en equipos con 60-80% de bajas.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31 - 60 DÍAS: ESTABILIZACIÓN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Reducción Time-to-Fill: Alianzas técnicas para acortar cobertura eléctrica a &lt;25 días.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Capacitación Obligatoria: 100% de operarios de Ensamble y Estampado en Seguridad.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Hard-Cap de Horas Extra: Tope de 15 hs/mes por operario para cortar accidentes por fatiga.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Corrección ERP: Ajustar edad jubilatoria femenina a 60 años y limpiar falsas jubilaciones.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61 - 90+ DÍAS: INSTITUCIONALIZACIÓN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Despliegue de Modelo ML: Tablero diario de Early Warning para alertar riesgo de accidente.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Alineación Salarial: Nivelar brecha del 7% en Nivel 4 y promover operarias Top Performers.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Incentivos por Calidad: Bonos atados a tasa de scrap y días sin accidentes.</a:t>
            </a:r>
          </a:p>
          <a:p>
            <a:pPr>
              <a:spcAft>
                <a:spcPts val="300"/>
              </a:spcAft>
              <a:defRPr sz="950">
                <a:solidFill>
                  <a:srgbClr val="475569"/>
                </a:solidFill>
              </a:defRPr>
            </a:pPr>
            <a:r>
              <a:t>* Impacto Neto en EBITDA: Ahorro anualizado de &gt;$363 Millones de pesos en P&amp;L.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15243B"/>
      </a:dk1>
      <a:lt1>
        <a:srgbClr val="F7F9F9"/>
      </a:lt1>
      <a:dk2>
        <a:srgbClr val="3C977B"/>
      </a:dk2>
      <a:lt2>
        <a:srgbClr val="777B8B"/>
      </a:lt2>
      <a:accent1>
        <a:srgbClr val="15243B"/>
      </a:accent1>
      <a:accent2>
        <a:srgbClr val="496395"/>
      </a:accent2>
      <a:accent3>
        <a:srgbClr val="D00653"/>
      </a:accent3>
      <a:accent4>
        <a:srgbClr val="00B26B"/>
      </a:accent4>
      <a:accent5>
        <a:srgbClr val="15243B"/>
      </a:accent5>
      <a:accent6>
        <a:srgbClr val="15243B"/>
      </a:accent6>
      <a:hlink>
        <a:srgbClr val="09B570"/>
      </a:hlink>
      <a:folHlink>
        <a:srgbClr val="D006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7AEA0"/>
      </a:accent1>
      <a:accent2>
        <a:srgbClr val="7D9892"/>
      </a:accent2>
      <a:accent3>
        <a:srgbClr val="688687"/>
      </a:accent3>
      <a:accent4>
        <a:srgbClr val="5C818A"/>
      </a:accent4>
      <a:accent5>
        <a:srgbClr val="567C8A"/>
      </a:accent5>
      <a:accent6>
        <a:srgbClr val="4E798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